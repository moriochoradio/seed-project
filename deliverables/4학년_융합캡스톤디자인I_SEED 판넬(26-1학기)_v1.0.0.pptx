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012"/>
    <p:restoredTop sz="80894" autoAdjust="0"/>
  </p:normalViewPr>
  <p:slideViewPr>
    <p:cSldViewPr snapToGrid="0">
      <p:cViewPr>
        <p:scale>
          <a:sx n="57" d="100"/>
          <a:sy n="57" d="100"/>
        </p:scale>
        <p:origin x="200" y="-8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6C884-23AE-4414-A849-3EDBFB923495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5FA58-7979-4E60-BF21-5998AE42A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47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4C2D4-5E9B-420D-80EB-6AD3ECA7E1C9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37243-8D09-4152-9944-F0049D0E7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856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C045-0BA1-FEBA-05C6-1C28337F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B8AA2C-AEA2-2583-BCAF-DDEE0B9E3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053419-110A-9470-46BF-F48867676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D34919-FF4E-0CD0-AA21-F6DF710C8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37243-8D09-4152-9944-F0049D0E701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748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64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51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58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58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58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28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14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529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39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4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76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10EF3-ED0E-4DD6-8F73-99E0C8ECC7C6}" type="datetimeFigureOut">
              <a:rPr lang="ko-KR" altLang="en-US" smtClean="0"/>
              <a:t>2026. 6. 11.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82B39-1739-43A3-A826-A6EAB4D82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4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1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1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1EDFE-C314-C4E9-1B71-D75B1930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5E8BA8-57E2-D1F0-0D1E-510ADC86CCC6}"/>
              </a:ext>
            </a:extLst>
          </p:cNvPr>
          <p:cNvSpPr txBox="1"/>
          <p:nvPr/>
        </p:nvSpPr>
        <p:spPr>
          <a:xfrm>
            <a:off x="3766612" y="6862656"/>
            <a:ext cx="3247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의료</a:t>
            </a:r>
            <a:r>
              <a:rPr lang="en-US" altLang="ko-KR" sz="4000" b="1" dirty="0"/>
              <a:t>IT</a:t>
            </a:r>
            <a:r>
              <a:rPr lang="ko-KR" altLang="en-US" sz="4000" b="1" dirty="0"/>
              <a:t>공학과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1D56E-FA66-89FC-0E60-BD5DE0ED6BD9}"/>
              </a:ext>
            </a:extLst>
          </p:cNvPr>
          <p:cNvSpPr txBox="1"/>
          <p:nvPr/>
        </p:nvSpPr>
        <p:spPr>
          <a:xfrm>
            <a:off x="12362509" y="6862656"/>
            <a:ext cx="1807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송기원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A34C2-E675-8698-119C-A61070463195}"/>
              </a:ext>
            </a:extLst>
          </p:cNvPr>
          <p:cNvSpPr txBox="1"/>
          <p:nvPr/>
        </p:nvSpPr>
        <p:spPr>
          <a:xfrm>
            <a:off x="20145607" y="6862656"/>
            <a:ext cx="1001342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4000" b="1" dirty="0">
                <a:ea typeface="맑은 고딕"/>
              </a:rPr>
              <a:t>김민지</a:t>
            </a:r>
            <a:r>
              <a:rPr lang="en-US" altLang="ko-KR" sz="4000" b="1" dirty="0">
                <a:ea typeface="맑은 고딕"/>
              </a:rPr>
              <a:t>, </a:t>
            </a:r>
            <a:r>
              <a:rPr lang="ko-KR" altLang="en-US" sz="4000" b="1" dirty="0">
                <a:ea typeface="맑은 고딕"/>
              </a:rPr>
              <a:t>김태경</a:t>
            </a:r>
            <a:r>
              <a:rPr lang="en-US" altLang="ko-KR" sz="4000" b="1" dirty="0">
                <a:ea typeface="맑은 고딕"/>
              </a:rPr>
              <a:t>, </a:t>
            </a:r>
            <a:r>
              <a:rPr lang="en-US" altLang="ko-KR" sz="4000" b="1" dirty="0" err="1">
                <a:ea typeface="맑은 고딕"/>
              </a:rPr>
              <a:t>서현준</a:t>
            </a:r>
            <a:r>
              <a:rPr lang="en-US" altLang="ko-KR" sz="4000" b="1" dirty="0">
                <a:ea typeface="맑은 고딕"/>
              </a:rPr>
              <a:t>, </a:t>
            </a:r>
            <a:r>
              <a:rPr lang="en-US" altLang="ko-KR" sz="4000" b="1" dirty="0" err="1">
                <a:ea typeface="맑은 고딕"/>
              </a:rPr>
              <a:t>지승현</a:t>
            </a:r>
            <a:r>
              <a:rPr lang="en-US" altLang="ko-KR" sz="4000" b="1" dirty="0">
                <a:ea typeface="맑은 고딕"/>
              </a:rPr>
              <a:t>, </a:t>
            </a:r>
            <a:r>
              <a:rPr lang="ko-KR" altLang="en-US" sz="4000" b="1" dirty="0">
                <a:ea typeface="맑은 고딕"/>
              </a:rPr>
              <a:t>김혜현</a:t>
            </a:r>
            <a:endParaRPr 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418DED69-8198-E5D2-5756-9E6E4E0C7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347" y="7905920"/>
            <a:ext cx="28800000" cy="854849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C02826C-FB34-06C1-7AC9-4A85FA6AB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2347" y="18445940"/>
            <a:ext cx="28800000" cy="854849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722EDFF1-4651-A152-1F77-596A4B8AC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2347" y="34369834"/>
            <a:ext cx="28800000" cy="85484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3AF6F33-06AD-14E1-73FD-A5F8B5A5E4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27763" y="7570542"/>
            <a:ext cx="31075079" cy="163860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878503-CF64-AE75-252F-F93B5FDE8BB8}"/>
              </a:ext>
            </a:extLst>
          </p:cNvPr>
          <p:cNvSpPr txBox="1"/>
          <p:nvPr/>
        </p:nvSpPr>
        <p:spPr>
          <a:xfrm>
            <a:off x="1041400" y="6862656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err="1">
                <a:solidFill>
                  <a:srgbClr val="0070C0"/>
                </a:solidFill>
              </a:rPr>
              <a:t>ㅣ학과명ㅣ</a:t>
            </a:r>
            <a:endParaRPr lang="ko-KR" altLang="en-US" sz="4000" b="1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DE534-9B32-0A9E-1EF8-1DCFFB6296CC}"/>
              </a:ext>
            </a:extLst>
          </p:cNvPr>
          <p:cNvSpPr txBox="1"/>
          <p:nvPr/>
        </p:nvSpPr>
        <p:spPr>
          <a:xfrm>
            <a:off x="9133426" y="6862656"/>
            <a:ext cx="3247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err="1">
                <a:solidFill>
                  <a:srgbClr val="0070C0"/>
                </a:solidFill>
              </a:rPr>
              <a:t>ㅣ지도교수ㅣ</a:t>
            </a:r>
            <a:endParaRPr lang="ko-KR" altLang="en-US" sz="40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8A7CF5-A967-B008-AD2A-032F7A279D12}"/>
              </a:ext>
            </a:extLst>
          </p:cNvPr>
          <p:cNvSpPr txBox="1"/>
          <p:nvPr/>
        </p:nvSpPr>
        <p:spPr>
          <a:xfrm>
            <a:off x="16916523" y="6862656"/>
            <a:ext cx="3247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err="1">
                <a:solidFill>
                  <a:srgbClr val="0070C0"/>
                </a:solidFill>
              </a:rPr>
              <a:t>ㅣ참여학생ㅣ</a:t>
            </a:r>
            <a:endParaRPr lang="ko-KR" altLang="en-US" sz="4000" b="1" dirty="0">
              <a:solidFill>
                <a:srgbClr val="0070C0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BAD42CE-CF9F-AD8D-312A-1AEAA11D6A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98758"/>
            <a:ext cx="4772438" cy="14994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F3FAD8-F33D-DD73-5C98-C452717D9D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439" y="41677085"/>
            <a:ext cx="5554902" cy="15091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7037-E0BA-A9F7-077E-97C71F282C58}"/>
              </a:ext>
            </a:extLst>
          </p:cNvPr>
          <p:cNvSpPr txBox="1"/>
          <p:nvPr/>
        </p:nvSpPr>
        <p:spPr>
          <a:xfrm>
            <a:off x="430308" y="95726"/>
            <a:ext cx="314848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2026</a:t>
            </a:r>
            <a:r>
              <a:rPr lang="ko-KR" altLang="en-US" sz="10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학년도 </a:t>
            </a:r>
            <a:r>
              <a:rPr lang="en-US" altLang="ko-KR" sz="10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0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학기 의료</a:t>
            </a:r>
            <a:r>
              <a:rPr lang="en-US" altLang="ko-KR" sz="10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IT</a:t>
            </a:r>
            <a:r>
              <a:rPr lang="ko-KR" altLang="en-US" sz="100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공학과 성과 전시회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9719760-4C0C-857C-CD66-4ABFC79F09F4}"/>
              </a:ext>
            </a:extLst>
          </p:cNvPr>
          <p:cNvSpPr/>
          <p:nvPr/>
        </p:nvSpPr>
        <p:spPr>
          <a:xfrm>
            <a:off x="1325074" y="12141437"/>
            <a:ext cx="12493144" cy="550978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ko-KR" altLang="en-US"/>
          </a:p>
        </p:txBody>
      </p:sp>
      <p:sp>
        <p:nvSpPr>
          <p:cNvPr id="57" name="사각형: 둥근 모서리 15">
            <a:extLst>
              <a:ext uri="{FF2B5EF4-FFF2-40B4-BE49-F238E27FC236}">
                <a16:creationId xmlns:a16="http://schemas.microsoft.com/office/drawing/2014/main" id="{310EA20E-1C43-50D4-FADC-DE0041C8C18C}"/>
              </a:ext>
            </a:extLst>
          </p:cNvPr>
          <p:cNvSpPr/>
          <p:nvPr/>
        </p:nvSpPr>
        <p:spPr>
          <a:xfrm>
            <a:off x="1598435" y="11884096"/>
            <a:ext cx="3799476" cy="708900"/>
          </a:xfrm>
          <a:prstGeom prst="round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/>
              <a:t>문제정의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0B0F851-5793-5E27-7691-AC4EF451605D}"/>
              </a:ext>
            </a:extLst>
          </p:cNvPr>
          <p:cNvSpPr/>
          <p:nvPr/>
        </p:nvSpPr>
        <p:spPr>
          <a:xfrm>
            <a:off x="14227450" y="9125641"/>
            <a:ext cx="15855379" cy="852558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44">
            <a:extLst>
              <a:ext uri="{FF2B5EF4-FFF2-40B4-BE49-F238E27FC236}">
                <a16:creationId xmlns:a16="http://schemas.microsoft.com/office/drawing/2014/main" id="{ADD1A7AC-E64D-0F2C-156C-EE1944E0D450}"/>
              </a:ext>
            </a:extLst>
          </p:cNvPr>
          <p:cNvSpPr/>
          <p:nvPr/>
        </p:nvSpPr>
        <p:spPr>
          <a:xfrm>
            <a:off x="14783858" y="10098733"/>
            <a:ext cx="14712916" cy="1744591"/>
          </a:xfrm>
          <a:prstGeom prst="roundRect">
            <a:avLst>
              <a:gd name="adj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600" b="1" dirty="0">
                <a:ea typeface="맑은 고딕"/>
              </a:rPr>
              <a:t>정자를 </a:t>
            </a:r>
            <a:r>
              <a:rPr lang="ko-KR" altLang="en-US" sz="3600" b="1" dirty="0">
                <a:solidFill>
                  <a:srgbClr val="0070C0"/>
                </a:solidFill>
                <a:ea typeface="맑은 고딕"/>
              </a:rPr>
              <a:t>자동 검출</a:t>
            </a:r>
            <a:r>
              <a:rPr lang="ko-KR" altLang="en-US" sz="3600" b="1" dirty="0">
                <a:ea typeface="맑은 고딕"/>
              </a:rPr>
              <a:t>하고 </a:t>
            </a:r>
            <a:r>
              <a:rPr lang="ko-KR" altLang="en-US" sz="3600" b="1" dirty="0">
                <a:solidFill>
                  <a:srgbClr val="0070C0"/>
                </a:solidFill>
                <a:ea typeface="맑은 고딕"/>
              </a:rPr>
              <a:t>이동 경로를 추적</a:t>
            </a:r>
            <a:r>
              <a:rPr lang="ko-KR" altLang="en-US" sz="3600" b="1" dirty="0">
                <a:ea typeface="맑은 고딕"/>
              </a:rPr>
              <a:t>하여 운동성 분석 자동화</a:t>
            </a:r>
            <a:endParaRPr lang="en-US" altLang="ko-KR" sz="3600" b="1" dirty="0">
              <a:ea typeface="맑은 고딕"/>
            </a:endParaRPr>
          </a:p>
        </p:txBody>
      </p:sp>
      <p:sp>
        <p:nvSpPr>
          <p:cNvPr id="61" name="사각형: 둥근 모서리 48">
            <a:extLst>
              <a:ext uri="{FF2B5EF4-FFF2-40B4-BE49-F238E27FC236}">
                <a16:creationId xmlns:a16="http://schemas.microsoft.com/office/drawing/2014/main" id="{275A454B-0660-B711-B7DC-F130E615A89A}"/>
              </a:ext>
            </a:extLst>
          </p:cNvPr>
          <p:cNvSpPr/>
          <p:nvPr/>
        </p:nvSpPr>
        <p:spPr>
          <a:xfrm>
            <a:off x="14783858" y="12277912"/>
            <a:ext cx="14712916" cy="1744591"/>
          </a:xfrm>
          <a:prstGeom prst="roundRect">
            <a:avLst>
              <a:gd name="adj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fontAlgn="base"/>
            <a:r>
              <a:rPr lang="ko-KR" altLang="en-US" sz="3600" b="1" dirty="0"/>
              <a:t>동일 정자의 </a:t>
            </a:r>
            <a:r>
              <a:rPr lang="ko-KR" altLang="en-US" sz="3600" b="1" dirty="0">
                <a:solidFill>
                  <a:srgbClr val="0070C0"/>
                </a:solidFill>
              </a:rPr>
              <a:t>형태와 운동성 분석을 함께 분석</a:t>
            </a:r>
            <a:r>
              <a:rPr lang="ko-KR" altLang="en-US" sz="3600" b="1" dirty="0"/>
              <a:t>하여 종합적인 평가 제공</a:t>
            </a:r>
            <a:endParaRPr lang="en-US" altLang="ko-KR" sz="3600" b="1" dirty="0"/>
          </a:p>
        </p:txBody>
      </p:sp>
      <p:sp>
        <p:nvSpPr>
          <p:cNvPr id="63" name="사각형: 둥근 모서리 54">
            <a:extLst>
              <a:ext uri="{FF2B5EF4-FFF2-40B4-BE49-F238E27FC236}">
                <a16:creationId xmlns:a16="http://schemas.microsoft.com/office/drawing/2014/main" id="{BBAD06F7-F5F0-F270-E3D2-236B0781C260}"/>
              </a:ext>
            </a:extLst>
          </p:cNvPr>
          <p:cNvSpPr/>
          <p:nvPr/>
        </p:nvSpPr>
        <p:spPr>
          <a:xfrm>
            <a:off x="14774336" y="14469078"/>
            <a:ext cx="14712916" cy="1744591"/>
          </a:xfrm>
          <a:prstGeom prst="roundRect">
            <a:avLst>
              <a:gd name="adj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3600" b="1" dirty="0">
                <a:ea typeface="맑은 고딕"/>
              </a:rPr>
              <a:t>웹 기반 분석 서비스로 </a:t>
            </a:r>
            <a:r>
              <a:rPr lang="ko-KR" altLang="en-US" sz="3600" b="1" dirty="0">
                <a:solidFill>
                  <a:srgbClr val="0070C0"/>
                </a:solidFill>
                <a:ea typeface="맑은 고딕"/>
              </a:rPr>
              <a:t>일반 현미경 영상만으로 분석이 가능</a:t>
            </a:r>
            <a:r>
              <a:rPr lang="ko-KR" altLang="en-US" sz="3600" b="1" dirty="0">
                <a:ea typeface="맑은 고딕"/>
              </a:rPr>
              <a:t>하도록 제공</a:t>
            </a:r>
            <a:endParaRPr lang="en-US" altLang="ko-KR" sz="3600" b="1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04C6404-7A93-97EB-C0E0-A9BA0EC3644C}"/>
              </a:ext>
            </a:extLst>
          </p:cNvPr>
          <p:cNvSpPr/>
          <p:nvPr/>
        </p:nvSpPr>
        <p:spPr>
          <a:xfrm>
            <a:off x="15081293" y="16438766"/>
            <a:ext cx="14147693" cy="11108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‘</a:t>
            </a:r>
            <a:r>
              <a:rPr lang="en-US" altLang="ko-KR" sz="4000" b="1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4000" b="1" dirty="0">
                <a:solidFill>
                  <a:srgbClr val="0070C0"/>
                </a:solidFill>
                <a:latin typeface="+mn-ea"/>
              </a:rPr>
              <a:t>기반의 정자 자동 탐지 및 형태</a:t>
            </a:r>
            <a:r>
              <a:rPr lang="en-US" altLang="ko-KR" sz="4000" b="1" dirty="0">
                <a:solidFill>
                  <a:srgbClr val="0070C0"/>
                </a:solidFill>
                <a:latin typeface="+mn-ea"/>
              </a:rPr>
              <a:t>·</a:t>
            </a:r>
            <a:r>
              <a:rPr lang="ko-KR" altLang="en-US" sz="4000" b="1" dirty="0">
                <a:solidFill>
                  <a:srgbClr val="0070C0"/>
                </a:solidFill>
                <a:latin typeface="+mn-ea"/>
              </a:rPr>
              <a:t>운동성 분석 시스템</a:t>
            </a:r>
            <a:r>
              <a:rPr lang="en-US" altLang="ko-KR" sz="4000" b="1" dirty="0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4000" b="1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개발</a:t>
            </a:r>
          </a:p>
        </p:txBody>
      </p: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907F5530-061D-2AA2-4D30-0068E1AD7444}"/>
              </a:ext>
            </a:extLst>
          </p:cNvPr>
          <p:cNvSpPr/>
          <p:nvPr/>
        </p:nvSpPr>
        <p:spPr>
          <a:xfrm>
            <a:off x="14494971" y="8842415"/>
            <a:ext cx="3799476" cy="709200"/>
          </a:xfrm>
          <a:prstGeom prst="round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/>
              <a:t>해결방안</a:t>
            </a:r>
          </a:p>
        </p:txBody>
      </p:sp>
      <p:sp>
        <p:nvSpPr>
          <p:cNvPr id="76" name="제목 1">
            <a:extLst>
              <a:ext uri="{FF2B5EF4-FFF2-40B4-BE49-F238E27FC236}">
                <a16:creationId xmlns:a16="http://schemas.microsoft.com/office/drawing/2014/main" id="{2A53528F-991E-8BFB-E818-8EA28D39EA72}"/>
              </a:ext>
            </a:extLst>
          </p:cNvPr>
          <p:cNvSpPr txBox="1">
            <a:spLocks/>
          </p:cNvSpPr>
          <p:nvPr/>
        </p:nvSpPr>
        <p:spPr>
          <a:xfrm>
            <a:off x="1276948" y="3965485"/>
            <a:ext cx="30207940" cy="228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3239902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559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6600" b="1" dirty="0">
                <a:latin typeface="맑은 고딕"/>
                <a:ea typeface="맑은 고딕"/>
              </a:rPr>
              <a:t>SEED </a:t>
            </a:r>
            <a:r>
              <a:rPr lang="ko-KR" altLang="en-US" sz="6600" b="1" dirty="0">
                <a:latin typeface="맑은 고딕"/>
                <a:ea typeface="맑은 고딕"/>
              </a:rPr>
              <a:t>프로젝트</a:t>
            </a:r>
            <a:endParaRPr lang="ko-KR" altLang="en-US" sz="3600" b="1" dirty="0">
              <a:latin typeface="맑은 고딕"/>
              <a:ea typeface="맑은 고딕"/>
            </a:endParaRPr>
          </a:p>
          <a:p>
            <a:pPr algn="r"/>
            <a:r>
              <a:rPr lang="en-US" altLang="ko-KR" sz="6600" b="1" dirty="0">
                <a:latin typeface="맑은 고딕"/>
                <a:ea typeface="맑은 고딕"/>
              </a:rPr>
              <a:t>(AI </a:t>
            </a:r>
            <a:r>
              <a:rPr lang="ko-KR" altLang="en-US" sz="6600" b="1" dirty="0">
                <a:latin typeface="맑은 고딕"/>
                <a:ea typeface="맑은 고딕"/>
              </a:rPr>
              <a:t>기반 정자 자동 탐지 및 형태</a:t>
            </a:r>
            <a:r>
              <a:rPr lang="en-US" altLang="ko-KR" sz="6600" b="1" dirty="0">
                <a:latin typeface="맑은 고딕"/>
                <a:ea typeface="맑은 고딕"/>
              </a:rPr>
              <a:t>·</a:t>
            </a:r>
            <a:r>
              <a:rPr lang="ko-KR" altLang="en-US" sz="6600" b="1" dirty="0">
                <a:latin typeface="맑은 고딕"/>
                <a:ea typeface="맑은 고딕"/>
              </a:rPr>
              <a:t>운동성 통합 분석 시스템</a:t>
            </a:r>
            <a:r>
              <a:rPr lang="en-US" altLang="ko-KR" sz="6600" b="1" dirty="0">
                <a:latin typeface="맑은 고딕"/>
                <a:ea typeface="맑은 고딕"/>
              </a:rPr>
              <a:t>)</a:t>
            </a:r>
            <a:br>
              <a:rPr lang="en-US" altLang="ko-KR" sz="6600" b="1" dirty="0">
                <a:latin typeface="+mn-ea"/>
                <a:ea typeface="+mn-ea"/>
              </a:rPr>
            </a:br>
            <a:r>
              <a:rPr lang="en-US" altLang="ko-KR" sz="3600" b="1" dirty="0">
                <a:latin typeface="맑은 고딕"/>
                <a:ea typeface="맑은 고딕"/>
              </a:rPr>
              <a:t>AI-Based Automatic Sperm Detection and</a:t>
            </a:r>
            <a:r>
              <a:rPr lang="ko-KR" altLang="en-US" sz="3600" b="1" dirty="0">
                <a:latin typeface="맑은 고딕"/>
                <a:ea typeface="맑은 고딕"/>
              </a:rPr>
              <a:t> </a:t>
            </a:r>
            <a:r>
              <a:rPr lang="en-US" altLang="ko-KR" sz="3600" b="1" dirty="0">
                <a:latin typeface="맑은 고딕"/>
                <a:ea typeface="맑은 고딕"/>
              </a:rPr>
              <a:t>Integrated Morphology and Motility Analysis System </a:t>
            </a:r>
            <a:r>
              <a:rPr lang="en-US" altLang="ko-KR" sz="3600" dirty="0">
                <a:latin typeface="맑은 고딕"/>
                <a:ea typeface="맑은 고딕"/>
              </a:rPr>
              <a:t>​</a:t>
            </a:r>
            <a:endParaRPr lang="ko-KR" altLang="en-US" sz="3600" b="1" dirty="0">
              <a:latin typeface="맑은 고딕"/>
              <a:ea typeface="맑은 고딕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F816A3F-11A2-6F9E-7D82-8CD73784CAE7}"/>
              </a:ext>
            </a:extLst>
          </p:cNvPr>
          <p:cNvSpPr/>
          <p:nvPr/>
        </p:nvSpPr>
        <p:spPr>
          <a:xfrm>
            <a:off x="16443128" y="19732702"/>
            <a:ext cx="13636256" cy="14409982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29">
            <a:extLst>
              <a:ext uri="{FF2B5EF4-FFF2-40B4-BE49-F238E27FC236}">
                <a16:creationId xmlns:a16="http://schemas.microsoft.com/office/drawing/2014/main" id="{12ACBD66-0F66-3591-DEDD-A71ECCBC4292}"/>
              </a:ext>
            </a:extLst>
          </p:cNvPr>
          <p:cNvSpPr/>
          <p:nvPr/>
        </p:nvSpPr>
        <p:spPr>
          <a:xfrm>
            <a:off x="16742888" y="19417102"/>
            <a:ext cx="3907670" cy="632734"/>
          </a:xfrm>
          <a:prstGeom prst="round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/>
              <a:t>시스템 </a:t>
            </a:r>
            <a:r>
              <a:rPr lang="en-US" altLang="ko-KR" sz="4000" dirty="0"/>
              <a:t>UI</a:t>
            </a:r>
            <a:endParaRPr lang="ko-KR" altLang="en-US" sz="40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96AE258-E956-4661-CF66-F630152E0F61}"/>
              </a:ext>
            </a:extLst>
          </p:cNvPr>
          <p:cNvSpPr/>
          <p:nvPr/>
        </p:nvSpPr>
        <p:spPr>
          <a:xfrm>
            <a:off x="1312347" y="19727710"/>
            <a:ext cx="14887297" cy="884957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15">
            <a:extLst>
              <a:ext uri="{FF2B5EF4-FFF2-40B4-BE49-F238E27FC236}">
                <a16:creationId xmlns:a16="http://schemas.microsoft.com/office/drawing/2014/main" id="{30EACCCD-099D-5218-36BC-2649E3376D01}"/>
              </a:ext>
            </a:extLst>
          </p:cNvPr>
          <p:cNvSpPr/>
          <p:nvPr/>
        </p:nvSpPr>
        <p:spPr>
          <a:xfrm>
            <a:off x="1598435" y="19417102"/>
            <a:ext cx="3799476" cy="708900"/>
          </a:xfrm>
          <a:prstGeom prst="round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/>
              <a:t>아키텍처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D2939E-1B2E-A194-AC79-E7E30A89494C}"/>
              </a:ext>
            </a:extLst>
          </p:cNvPr>
          <p:cNvSpPr/>
          <p:nvPr/>
        </p:nvSpPr>
        <p:spPr>
          <a:xfrm>
            <a:off x="1319306" y="9125642"/>
            <a:ext cx="12493144" cy="260907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endParaRPr lang="ko-KR" altLang="en-US"/>
          </a:p>
        </p:txBody>
      </p:sp>
      <p:sp>
        <p:nvSpPr>
          <p:cNvPr id="26" name="사각형: 둥근 모서리 1053">
            <a:extLst>
              <a:ext uri="{FF2B5EF4-FFF2-40B4-BE49-F238E27FC236}">
                <a16:creationId xmlns:a16="http://schemas.microsoft.com/office/drawing/2014/main" id="{AE0D2811-B835-B580-1844-A8360FA755AB}"/>
              </a:ext>
            </a:extLst>
          </p:cNvPr>
          <p:cNvSpPr/>
          <p:nvPr/>
        </p:nvSpPr>
        <p:spPr>
          <a:xfrm>
            <a:off x="1400267" y="9726118"/>
            <a:ext cx="12241128" cy="17809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3600" b="1" dirty="0">
                <a:solidFill>
                  <a:schemeClr val="tx1"/>
                </a:solidFill>
                <a:latin typeface="+mn-ea"/>
              </a:rPr>
              <a:t>남성 난임 </a:t>
            </a:r>
            <a:r>
              <a:rPr lang="ko-KR" altLang="en-US" sz="3600" b="1" dirty="0" err="1">
                <a:solidFill>
                  <a:schemeClr val="tx1"/>
                </a:solidFill>
                <a:latin typeface="+mn-ea"/>
              </a:rPr>
              <a:t>진단자</a:t>
            </a:r>
            <a:r>
              <a:rPr lang="ko-KR" altLang="en-US" sz="36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3600" b="1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3600" b="1" dirty="0">
                <a:solidFill>
                  <a:schemeClr val="tx1"/>
                </a:solidFill>
                <a:latin typeface="+mn-ea"/>
              </a:rPr>
              <a:t>만 명 돌파</a:t>
            </a:r>
            <a:endParaRPr lang="en-US" altLang="ko-KR" sz="36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3600" dirty="0">
                <a:solidFill>
                  <a:schemeClr val="tx1"/>
                </a:solidFill>
                <a:latin typeface="+mn-ea"/>
              </a:rPr>
              <a:t>2020</a:t>
            </a:r>
            <a:r>
              <a:rPr lang="ko-KR" altLang="en-US" sz="3600" dirty="0">
                <a:solidFill>
                  <a:schemeClr val="tx1"/>
                </a:solidFill>
                <a:latin typeface="+mn-ea"/>
              </a:rPr>
              <a:t>년 대비 </a:t>
            </a:r>
            <a:r>
              <a:rPr lang="en-US" altLang="ko-KR" sz="3600" dirty="0">
                <a:solidFill>
                  <a:schemeClr val="tx1"/>
                </a:solidFill>
                <a:latin typeface="+mn-ea"/>
              </a:rPr>
              <a:t>36.9% </a:t>
            </a:r>
            <a:r>
              <a:rPr lang="ko-KR" altLang="en-US" sz="3600" dirty="0">
                <a:solidFill>
                  <a:schemeClr val="tx1"/>
                </a:solidFill>
                <a:latin typeface="+mn-ea"/>
              </a:rPr>
              <a:t>증가</a:t>
            </a:r>
            <a:endParaRPr lang="en-US" altLang="ko-KR" sz="36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3600" dirty="0">
                <a:solidFill>
                  <a:schemeClr val="tx1"/>
                </a:solidFill>
                <a:latin typeface="+mn-ea"/>
              </a:rPr>
              <a:t>     → 객관적이고 접근성 높은 정자 분석 기술 필요 </a:t>
            </a:r>
            <a:endParaRPr lang="en-US" altLang="ko-KR" sz="3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15">
            <a:extLst>
              <a:ext uri="{FF2B5EF4-FFF2-40B4-BE49-F238E27FC236}">
                <a16:creationId xmlns:a16="http://schemas.microsoft.com/office/drawing/2014/main" id="{F4E3B459-D5E5-8EA8-E5BC-4EC34984DAC0}"/>
              </a:ext>
            </a:extLst>
          </p:cNvPr>
          <p:cNvSpPr/>
          <p:nvPr/>
        </p:nvSpPr>
        <p:spPr>
          <a:xfrm>
            <a:off x="1592667" y="8842715"/>
            <a:ext cx="3799476" cy="708900"/>
          </a:xfrm>
          <a:prstGeom prst="round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/>
              <a:t>문제인식</a:t>
            </a:r>
          </a:p>
        </p:txBody>
      </p:sp>
      <p:sp>
        <p:nvSpPr>
          <p:cNvPr id="29" name="사각형: 둥근 모서리 1053">
            <a:extLst>
              <a:ext uri="{FF2B5EF4-FFF2-40B4-BE49-F238E27FC236}">
                <a16:creationId xmlns:a16="http://schemas.microsoft.com/office/drawing/2014/main" id="{A96D80E6-B4FD-FB27-6C3B-D22A20F1F775}"/>
              </a:ext>
            </a:extLst>
          </p:cNvPr>
          <p:cNvSpPr/>
          <p:nvPr/>
        </p:nvSpPr>
        <p:spPr>
          <a:xfrm>
            <a:off x="1400267" y="12745524"/>
            <a:ext cx="13563426" cy="45790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3400" b="1" dirty="0">
                <a:solidFill>
                  <a:schemeClr val="tx1"/>
                </a:solidFill>
              </a:rPr>
              <a:t>기존 정자 분석의 한계</a:t>
            </a:r>
            <a:endParaRPr lang="en-US" altLang="ko-KR" sz="3400" b="1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3400" b="1" dirty="0">
                <a:solidFill>
                  <a:schemeClr val="tx1"/>
                </a:solidFill>
              </a:rPr>
              <a:t>수동 판독 방식</a:t>
            </a:r>
            <a:r>
              <a:rPr lang="ko-KR" altLang="en-US" sz="3400" dirty="0">
                <a:solidFill>
                  <a:schemeClr val="tx1"/>
                </a:solidFill>
              </a:rPr>
              <a:t>은 결과 일관성과 정량 분석에 한계가 있음</a:t>
            </a:r>
            <a:endParaRPr lang="en-US" altLang="ko-KR" sz="3400" dirty="0">
              <a:solidFill>
                <a:schemeClr val="tx1"/>
              </a:solidFill>
            </a:endParaRPr>
          </a:p>
          <a:p>
            <a:r>
              <a:rPr lang="ko-KR" altLang="en-US" sz="3400" dirty="0">
                <a:solidFill>
                  <a:schemeClr val="tx1"/>
                </a:solidFill>
              </a:rPr>
              <a:t>     → 검사자에 따라 결과 편차 발생</a:t>
            </a:r>
            <a:r>
              <a:rPr lang="en-US" altLang="ko-KR" sz="3400" dirty="0">
                <a:solidFill>
                  <a:schemeClr val="tx1"/>
                </a:solidFill>
              </a:rPr>
              <a:t>·</a:t>
            </a:r>
            <a:r>
              <a:rPr lang="ko-KR" altLang="en-US" sz="3400" dirty="0">
                <a:solidFill>
                  <a:schemeClr val="tx1"/>
                </a:solidFill>
              </a:rPr>
              <a:t>긴 분석 시간</a:t>
            </a:r>
          </a:p>
          <a:p>
            <a:endParaRPr lang="en-US" altLang="ko-KR" sz="3400" b="1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ko-KR" sz="3400" dirty="0">
                <a:solidFill>
                  <a:schemeClr val="tx1"/>
                </a:solidFill>
              </a:rPr>
              <a:t>*</a:t>
            </a:r>
            <a:r>
              <a:rPr lang="en-US" altLang="ko-KR" sz="3400" b="1" dirty="0">
                <a:solidFill>
                  <a:schemeClr val="tx1"/>
                </a:solidFill>
              </a:rPr>
              <a:t>CASA </a:t>
            </a:r>
            <a:r>
              <a:rPr lang="ko-KR" altLang="en-US" sz="3400" b="1" dirty="0">
                <a:solidFill>
                  <a:schemeClr val="tx1"/>
                </a:solidFill>
              </a:rPr>
              <a:t>시스템</a:t>
            </a:r>
            <a:r>
              <a:rPr lang="ko-KR" altLang="en-US" sz="3400" dirty="0">
                <a:solidFill>
                  <a:schemeClr val="tx1"/>
                </a:solidFill>
              </a:rPr>
              <a:t>은 형태와 운동성을 분리하여 분석</a:t>
            </a:r>
            <a:endParaRPr lang="en-US" altLang="ko-KR" sz="3400" dirty="0">
              <a:solidFill>
                <a:schemeClr val="tx1"/>
              </a:solidFill>
            </a:endParaRPr>
          </a:p>
          <a:p>
            <a:r>
              <a:rPr lang="ko-KR" altLang="en-US" sz="3400" dirty="0">
                <a:solidFill>
                  <a:schemeClr val="tx1"/>
                </a:solidFill>
              </a:rPr>
              <a:t>     → 동일 정자 기준 통합적인 평가가 어려움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ko-KR" sz="34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3400" dirty="0">
                <a:solidFill>
                  <a:schemeClr val="tx1"/>
                </a:solidFill>
              </a:rPr>
              <a:t>병원 중심의 </a:t>
            </a:r>
            <a:r>
              <a:rPr lang="ko-KR" altLang="en-US" sz="3400" b="1" dirty="0">
                <a:solidFill>
                  <a:schemeClr val="tx1"/>
                </a:solidFill>
              </a:rPr>
              <a:t>고가 장비</a:t>
            </a:r>
            <a:r>
              <a:rPr lang="ko-KR" altLang="en-US" sz="3400" dirty="0">
                <a:solidFill>
                  <a:schemeClr val="tx1"/>
                </a:solidFill>
              </a:rPr>
              <a:t>와 </a:t>
            </a:r>
            <a:r>
              <a:rPr lang="ko-KR" altLang="en-US" sz="3400" b="1" dirty="0">
                <a:solidFill>
                  <a:schemeClr val="tx1"/>
                </a:solidFill>
              </a:rPr>
              <a:t>전문 인력 의존</a:t>
            </a:r>
            <a:endParaRPr lang="en-US" altLang="ko-KR" sz="3400" b="1" dirty="0">
              <a:solidFill>
                <a:schemeClr val="tx1"/>
              </a:solidFill>
            </a:endParaRPr>
          </a:p>
          <a:p>
            <a:pPr lvl="1"/>
            <a:r>
              <a:rPr lang="ko-KR" altLang="en-US" sz="3400" dirty="0">
                <a:solidFill>
                  <a:schemeClr val="tx1"/>
                </a:solidFill>
              </a:rPr>
              <a:t> → 검사 비용 부담 및 일반 의료기관</a:t>
            </a:r>
            <a:r>
              <a:rPr lang="en-US" altLang="ko-KR" sz="3400" dirty="0">
                <a:solidFill>
                  <a:schemeClr val="tx1"/>
                </a:solidFill>
              </a:rPr>
              <a:t>·</a:t>
            </a:r>
            <a:r>
              <a:rPr lang="ko-KR" altLang="en-US" sz="3400" dirty="0">
                <a:solidFill>
                  <a:schemeClr val="tx1"/>
                </a:solidFill>
              </a:rPr>
              <a:t>개인이 이용하기 어려움</a:t>
            </a:r>
            <a:endParaRPr lang="en-US" altLang="ko-KR" sz="34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1379A-D720-3D04-80D7-6201A3DD2E64}"/>
              </a:ext>
            </a:extLst>
          </p:cNvPr>
          <p:cNvSpPr txBox="1"/>
          <p:nvPr/>
        </p:nvSpPr>
        <p:spPr>
          <a:xfrm>
            <a:off x="1276948" y="17814798"/>
            <a:ext cx="2890122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800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*CASA(Computer-Assisted Sperm Analysis)</a:t>
            </a:r>
            <a:r>
              <a:rPr lang="en-US" altLang="ko-KR" sz="28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sz="28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현미경 영상과 이미지 분석 알고리즘을 통해 정액 분석을 자동화한 시스템</a:t>
            </a:r>
            <a:endParaRPr lang="ko-KR" altLang="en-US" sz="28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8851D80-3397-A8A3-BE83-71118338826D}"/>
              </a:ext>
            </a:extLst>
          </p:cNvPr>
          <p:cNvSpPr/>
          <p:nvPr/>
        </p:nvSpPr>
        <p:spPr>
          <a:xfrm>
            <a:off x="1319306" y="29103282"/>
            <a:ext cx="14880338" cy="501772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15">
            <a:extLst>
              <a:ext uri="{FF2B5EF4-FFF2-40B4-BE49-F238E27FC236}">
                <a16:creationId xmlns:a16="http://schemas.microsoft.com/office/drawing/2014/main" id="{B3DEE2BE-DA67-EDFF-216A-D0B498915588}"/>
              </a:ext>
            </a:extLst>
          </p:cNvPr>
          <p:cNvSpPr/>
          <p:nvPr/>
        </p:nvSpPr>
        <p:spPr>
          <a:xfrm>
            <a:off x="1592667" y="28784368"/>
            <a:ext cx="3799476" cy="708900"/>
          </a:xfrm>
          <a:prstGeom prst="round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/>
              <a:t>성능 지표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E256E-6D46-6989-A11B-FC9515998044}"/>
              </a:ext>
            </a:extLst>
          </p:cNvPr>
          <p:cNvSpPr txBox="1"/>
          <p:nvPr/>
        </p:nvSpPr>
        <p:spPr>
          <a:xfrm>
            <a:off x="16634538" y="20153640"/>
            <a:ext cx="2084300" cy="46166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분석 영상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36CD8D-8C8F-7B90-81E9-3875CE316EFC}"/>
              </a:ext>
            </a:extLst>
          </p:cNvPr>
          <p:cNvSpPr txBox="1"/>
          <p:nvPr/>
        </p:nvSpPr>
        <p:spPr>
          <a:xfrm>
            <a:off x="16622749" y="24512188"/>
            <a:ext cx="1996886" cy="46166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분석 결과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68E2905B-237C-F633-C368-AD5250D8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308554"/>
              </p:ext>
            </p:extLst>
          </p:nvPr>
        </p:nvGraphicFramePr>
        <p:xfrm>
          <a:off x="1420906" y="29641512"/>
          <a:ext cx="14479494" cy="4501171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762501">
                  <a:extLst>
                    <a:ext uri="{9D8B030D-6E8A-4147-A177-3AD203B41FA5}">
                      <a16:colId xmlns:a16="http://schemas.microsoft.com/office/drawing/2014/main" val="2503112821"/>
                    </a:ext>
                  </a:extLst>
                </a:gridCol>
                <a:gridCol w="4277723">
                  <a:extLst>
                    <a:ext uri="{9D8B030D-6E8A-4147-A177-3AD203B41FA5}">
                      <a16:colId xmlns:a16="http://schemas.microsoft.com/office/drawing/2014/main" val="782410200"/>
                    </a:ext>
                  </a:extLst>
                </a:gridCol>
                <a:gridCol w="1234628">
                  <a:extLst>
                    <a:ext uri="{9D8B030D-6E8A-4147-A177-3AD203B41FA5}">
                      <a16:colId xmlns:a16="http://schemas.microsoft.com/office/drawing/2014/main" val="3115379645"/>
                    </a:ext>
                  </a:extLst>
                </a:gridCol>
                <a:gridCol w="6204642">
                  <a:extLst>
                    <a:ext uri="{9D8B030D-6E8A-4147-A177-3AD203B41FA5}">
                      <a16:colId xmlns:a16="http://schemas.microsoft.com/office/drawing/2014/main" val="451823519"/>
                    </a:ext>
                  </a:extLst>
                </a:gridCol>
              </a:tblGrid>
              <a:tr h="656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800" b="1" dirty="0">
                          <a:latin typeface="+mn-ea"/>
                          <a:ea typeface="+mn-ea"/>
                        </a:rPr>
                        <a:t>평가 항목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800" b="1" dirty="0">
                          <a:latin typeface="+mn-ea"/>
                          <a:ea typeface="+mn-ea"/>
                        </a:rPr>
                        <a:t>성능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b="1" dirty="0">
                          <a:latin typeface="+mn-ea"/>
                          <a:ea typeface="+mn-ea"/>
                        </a:rPr>
                        <a:t>비교 기준</a:t>
                      </a:r>
                      <a:endParaRPr lang="ko-KR" sz="2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133147"/>
                  </a:ext>
                </a:extLst>
              </a:tr>
              <a:tr h="1281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spc="-100" baseline="0" dirty="0">
                          <a:latin typeface="+mn-ea"/>
                          <a:ea typeface="+mn-ea"/>
                        </a:rPr>
                        <a:t>운동성 예측 오차↓</a:t>
                      </a:r>
                      <a:endParaRPr lang="ko-KR" sz="2400" spc="-1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dirty="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ko-KR" sz="2400" dirty="0" err="1">
                          <a:latin typeface="+mn-ea"/>
                          <a:ea typeface="+mn-ea"/>
                        </a:rPr>
                        <a:t>검사값과의</a:t>
                      </a:r>
                      <a:r>
                        <a:rPr lang="ko-KR" sz="2400" dirty="0">
                          <a:latin typeface="+mn-ea"/>
                          <a:ea typeface="+mn-ea"/>
                        </a:rPr>
                        <a:t> 평균 오차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>
                          <a:latin typeface="+mn-ea"/>
                          <a:ea typeface="+mn-ea"/>
                        </a:rPr>
                        <a:t>6.9%p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latin typeface="+mn-ea"/>
                          <a:ea typeface="+mn-ea"/>
                        </a:rPr>
                        <a:t>기존 최고 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7.31%p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058825"/>
                  </a:ext>
                </a:extLst>
              </a:tr>
              <a:tr h="1281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>
                          <a:latin typeface="+mn-ea"/>
                          <a:ea typeface="+mn-ea"/>
                        </a:rPr>
                        <a:t>객체 탐지 성능↑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dirty="0">
                          <a:latin typeface="+mn-ea"/>
                          <a:ea typeface="+mn-ea"/>
                        </a:rPr>
                        <a:t>정자 검출 정확도 </a:t>
                      </a:r>
                      <a:endParaRPr lang="en-US" altLang="ko-KR" sz="2400" dirty="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sz="2400" dirty="0">
                          <a:latin typeface="+mn-ea"/>
                          <a:ea typeface="+mn-ea"/>
                        </a:rPr>
                        <a:t>(mAP@50)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>
                          <a:latin typeface="+mn-ea"/>
                          <a:ea typeface="+mn-ea"/>
                        </a:rPr>
                        <a:t>0.677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latin typeface="+mn-ea"/>
                          <a:ea typeface="+mn-ea"/>
                        </a:rPr>
                        <a:t>선행연구 수준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ko-KR" sz="2400" dirty="0">
                          <a:latin typeface="+mn-ea"/>
                          <a:ea typeface="+mn-ea"/>
                        </a:rPr>
                        <a:t>≈0.65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)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618158"/>
                  </a:ext>
                </a:extLst>
              </a:tr>
              <a:tr h="1281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>
                          <a:latin typeface="+mn-ea"/>
                          <a:ea typeface="+mn-ea"/>
                        </a:rPr>
                        <a:t>형태 분석 성능↑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dirty="0">
                          <a:latin typeface="+mn-ea"/>
                          <a:ea typeface="+mn-ea"/>
                        </a:rPr>
                        <a:t>정자 형태 이상 판별 </a:t>
                      </a:r>
                      <a:endParaRPr lang="en-US" altLang="ko-KR" sz="2400">
                        <a:latin typeface="+mn-ea"/>
                        <a:ea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ko-KR" sz="24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2400" dirty="0">
                          <a:latin typeface="+mn-ea"/>
                          <a:ea typeface="+mn-ea"/>
                        </a:rPr>
                        <a:t>평균 AUC)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>
                          <a:latin typeface="+mn-ea"/>
                          <a:ea typeface="+mn-ea"/>
                        </a:rPr>
                        <a:t>0.725</a:t>
                      </a:r>
                      <a:endParaRPr lang="ko-KR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2400" baseline="0" dirty="0">
                          <a:latin typeface="+mn-ea"/>
                          <a:ea typeface="+mn-ea"/>
                        </a:rPr>
                        <a:t>정상형태율 8~12%</a:t>
                      </a:r>
                      <a:r>
                        <a:rPr lang="en-US" altLang="ko-KR" sz="2400" baseline="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ko-KR" sz="2400" baseline="0" dirty="0"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2400" baseline="0" dirty="0">
                          <a:latin typeface="+mn-ea"/>
                          <a:ea typeface="+mn-ea"/>
                        </a:rPr>
                      </a:br>
                      <a:r>
                        <a:rPr lang="ko-KR" altLang="ko-KR" sz="2400" baseline="0" dirty="0">
                          <a:latin typeface="+mn-ea"/>
                          <a:ea typeface="+mn-ea"/>
                        </a:rPr>
                        <a:t>WHO 기준(≥4%)에 부합</a:t>
                      </a:r>
                      <a:endParaRPr lang="ko-KR" sz="24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624371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1FC79589-BE3F-F296-E2BC-91A9458EB354}"/>
              </a:ext>
            </a:extLst>
          </p:cNvPr>
          <p:cNvSpPr/>
          <p:nvPr/>
        </p:nvSpPr>
        <p:spPr>
          <a:xfrm>
            <a:off x="1273204" y="35461243"/>
            <a:ext cx="28799999" cy="426125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운동성 자동 분석</a:t>
            </a:r>
            <a:br>
              <a:rPr lang="ko-KR" altLang="en-US" sz="3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YOLOv11 + </a:t>
            </a:r>
            <a:r>
              <a:rPr lang="en-US" altLang="ko-KR" sz="3200" dirty="0" err="1">
                <a:solidFill>
                  <a:schemeClr val="tx1"/>
                </a:solidFill>
                <a:latin typeface="+mn-ea"/>
              </a:rPr>
              <a:t>ByteTrack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기반 정자 탐지</a:t>
            </a: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추적 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형태</a:t>
            </a:r>
            <a:r>
              <a:rPr lang="en-US" altLang="ko-KR" sz="32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운동성 통합 분석</a:t>
            </a:r>
            <a:br>
              <a:rPr lang="ko-KR" altLang="en-US" sz="3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3200" dirty="0">
                <a:solidFill>
                  <a:schemeClr val="tx1"/>
                </a:solidFill>
                <a:latin typeface="+mn-ea"/>
              </a:rPr>
              <a:t>EfficientNet-B3 </a:t>
            </a: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기반 형태 분석 모듈 통합 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웹 기반 분석 환경 구축</a:t>
            </a:r>
            <a:br>
              <a:rPr lang="ko-KR" altLang="en-US" sz="3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3200" dirty="0">
                <a:solidFill>
                  <a:schemeClr val="tx1"/>
                </a:solidFill>
                <a:latin typeface="+mn-ea"/>
              </a:rPr>
              <a:t>일반 현미경 영상만으로 분석 가능</a:t>
            </a:r>
            <a:endParaRPr lang="en-US" altLang="ko-KR" sz="3200" dirty="0">
              <a:solidFill>
                <a:schemeClr val="tx1"/>
              </a:solidFill>
              <a:latin typeface="+mn-ea"/>
            </a:endParaRPr>
          </a:p>
          <a:p>
            <a:endParaRPr lang="ko-KR" altLang="en-US" sz="3200" b="1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 이를 통해 정자 품질 평가의 정확성</a:t>
            </a:r>
            <a:r>
              <a:rPr lang="en-US" altLang="ko-KR" sz="3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활용성 및 접근성을 향상시키고</a:t>
            </a:r>
            <a:r>
              <a:rPr lang="en-US" altLang="ko-KR" sz="3200" b="1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 정확하고 통합적으로 누구나 분석을 받을 수 있는 시스템으로 기대된다</a:t>
            </a:r>
            <a:r>
              <a:rPr lang="en-US" altLang="ko-KR" sz="32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B1E3909-83B5-4460-D4E7-F942DB3353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21"/>
          <a:stretch>
            <a:fillRect/>
          </a:stretch>
        </p:blipFill>
        <p:spPr>
          <a:xfrm>
            <a:off x="1498574" y="20239241"/>
            <a:ext cx="12142821" cy="822007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5076FC4-CF20-B2C5-6CB9-D8DC9AEB44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99" t="48655" r="-628" b="-2089"/>
          <a:stretch>
            <a:fillRect/>
          </a:stretch>
        </p:blipFill>
        <p:spPr>
          <a:xfrm>
            <a:off x="13583984" y="24165159"/>
            <a:ext cx="2458783" cy="445633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16C92B0-F362-76AF-FB9A-AA21D02056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843" y="28541634"/>
            <a:ext cx="12247744" cy="1343019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8780C56-4D3E-0102-34C3-7C56EC91A135}"/>
              </a:ext>
            </a:extLst>
          </p:cNvPr>
          <p:cNvSpPr txBox="1"/>
          <p:nvPr/>
        </p:nvSpPr>
        <p:spPr>
          <a:xfrm>
            <a:off x="23385862" y="20125142"/>
            <a:ext cx="2084300" cy="46166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결과 요약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BFB3A134-138E-2DD0-222F-18CA9E4204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183"/>
          <a:stretch>
            <a:fillRect/>
          </a:stretch>
        </p:blipFill>
        <p:spPr>
          <a:xfrm>
            <a:off x="16622748" y="20593003"/>
            <a:ext cx="13242287" cy="38028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1D14DB23-CB89-E620-4F35-5E76A27EEC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" t="32847" r="-281" b="-2213"/>
          <a:stretch>
            <a:fillRect/>
          </a:stretch>
        </p:blipFill>
        <p:spPr>
          <a:xfrm>
            <a:off x="16622747" y="24898921"/>
            <a:ext cx="13242287" cy="915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0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EBB078652F5414C9FEE5844420C1BCF" ma:contentTypeVersion="11" ma:contentTypeDescription="새 문서를 만듭니다." ma:contentTypeScope="" ma:versionID="43278b3c884d45d57988b6584d7f2f9f">
  <xsd:schema xmlns:xsd="http://www.w3.org/2001/XMLSchema" xmlns:xs="http://www.w3.org/2001/XMLSchema" xmlns:p="http://schemas.microsoft.com/office/2006/metadata/properties" xmlns:ns2="1d42c905-50ff-4052-b7be-e49b2b85768b" xmlns:ns3="ab0670b6-c04d-402e-989e-02b3227b2a8b" targetNamespace="http://schemas.microsoft.com/office/2006/metadata/properties" ma:root="true" ma:fieldsID="e7974459bb1835b2dc888707f718b184" ns2:_="" ns3:_="">
    <xsd:import namespace="1d42c905-50ff-4052-b7be-e49b2b85768b"/>
    <xsd:import namespace="ab0670b6-c04d-402e-989e-02b3227b2a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2c905-50ff-4052-b7be-e49b2b8576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37443d77-d801-4529-9017-a9c50f29e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670b6-c04d-402e-989e-02b3227b2a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9b8bbcc-f32f-488c-a216-74845c3530af}" ma:internalName="TaxCatchAll" ma:showField="CatchAllData" ma:web="ab0670b6-c04d-402e-989e-02b3227b2a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d42c905-50ff-4052-b7be-e49b2b85768b">
      <Terms xmlns="http://schemas.microsoft.com/office/infopath/2007/PartnerControls"/>
    </lcf76f155ced4ddcb4097134ff3c332f>
    <TaxCatchAll xmlns="ab0670b6-c04d-402e-989e-02b3227b2a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045901-A9E5-4805-836B-551DC187B3D2}"/>
</file>

<file path=customXml/itemProps2.xml><?xml version="1.0" encoding="utf-8"?>
<ds:datastoreItem xmlns:ds="http://schemas.openxmlformats.org/officeDocument/2006/customXml" ds:itemID="{B9F4A3C1-24BB-482A-BFF7-11D20A77F1AE}">
  <ds:schemaRefs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ab0670b6-c04d-402e-989e-02b3227b2a8b"/>
    <ds:schemaRef ds:uri="1d42c905-50ff-4052-b7be-e49b2b85768b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80FEA17-2A70-4E8C-B896-1982639878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6280</TotalTime>
  <Words>333</Words>
  <Application>Microsoft Macintosh PowerPoint</Application>
  <PresentationFormat>사용자 지정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HY견고딕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제목 입력</dc:title>
  <dc:creator>박 지현</dc:creator>
  <cp:lastModifiedBy>[학부생]김혜현</cp:lastModifiedBy>
  <cp:revision>26</cp:revision>
  <dcterms:created xsi:type="dcterms:W3CDTF">2021-10-28T07:04:40Z</dcterms:created>
  <dcterms:modified xsi:type="dcterms:W3CDTF">2026-06-11T05:31:18Z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0x010100FEBB078652F5414C9FEE5844420C1BCF</vt:lpwstr>
  </property>
  <property fmtid="{D5CDD505-2E9C-101B-9397-08002B2CF9AE}" pid="3" name="MediaServiceImageTags">
    <vt:lpwstr/>
  </property>
</Properties>
</file>